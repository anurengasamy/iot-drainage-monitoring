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07" r:id="rId2"/>
    <p:sldId id="289" r:id="rId3"/>
    <p:sldId id="288" r:id="rId4"/>
    <p:sldId id="296" r:id="rId5"/>
    <p:sldId id="294" r:id="rId6"/>
    <p:sldId id="300" r:id="rId7"/>
    <p:sldId id="299" r:id="rId8"/>
    <p:sldId id="290" r:id="rId9"/>
    <p:sldId id="291" r:id="rId10"/>
    <p:sldId id="292" r:id="rId11"/>
    <p:sldId id="298" r:id="rId12"/>
    <p:sldId id="301" r:id="rId13"/>
    <p:sldId id="305" r:id="rId14"/>
    <p:sldId id="306" r:id="rId15"/>
    <p:sldId id="286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75" autoAdjust="0"/>
    <p:restoredTop sz="94660"/>
  </p:normalViewPr>
  <p:slideViewPr>
    <p:cSldViewPr snapToGrid="0">
      <p:cViewPr>
        <p:scale>
          <a:sx n="66" d="100"/>
          <a:sy n="66" d="100"/>
        </p:scale>
        <p:origin x="300" y="3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F7219D-F284-588B-2C04-485028A479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E54DBE-8008-C9F3-4327-0E184B4752B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BD6F9D-1E62-F980-D3A4-B79FC15411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DBFDCD-834D-9151-4222-EC7DFFD09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E4B69-EB40-EDD0-C951-180AC417B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4159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2CD12D-486C-5C59-5B63-29D108EE5A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852203-43A8-E62A-B764-98BEAD88C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AB162F-C92C-9C0A-C0FF-F05D8A6B1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5E56-C731-AF1D-DD6A-40BC3BB100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629ECB-E3A8-CD0B-5421-D4ADB2599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099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A034A7-DBD8-D4AF-8832-9F4498A1F7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F9A016-AE21-122A-B022-B8EA725D62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82BD36-8584-A9BD-5871-EE78DAE16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532D8-0DBA-B2FF-664F-5069687FA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942B68-BF33-294A-0EAC-685223829A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5005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96EF8-2ADB-0B28-439B-112052B96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01B86F-C5C1-8E19-2A82-7B5AC154DA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1AC999-50E4-152C-8F93-F854D1D0A7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450A6E-F4E2-70F2-45AD-28615FE6E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53CE04-C9C9-E716-1E8C-FFD6732145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2418BB-7A6A-F884-77F3-AE3923404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745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83446-8A00-A533-379B-C501F64E97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290BE-5856-97B0-7739-4EFC5C1A5E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F54370-8964-963C-8E75-1C6A74EC0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040B317-B33B-79BB-162C-726A417769F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2B59F9-B791-932A-811B-F085D115053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4B7C27-2CAF-925F-5E45-0170756132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84C7D78-CE34-3A69-E233-680076C711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78B4C83-CC18-0744-0503-09B443CC65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9722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3FBE4-08CA-60FC-A815-5A805682DC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5138710-4DFD-F7F2-3870-31D3099D1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D2016-04F7-9AD3-1072-5C2BE5A118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308619E-A944-6296-B8C6-E7ADEC28F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472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D39BFC-B3D9-024E-6713-D68247341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4F5BA-F069-A347-629F-150E521D8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37F04C-EC02-0226-CE8A-1E5B422AA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2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171F4-3EBA-4F24-C644-B46950F4F2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14256-F187-6AF5-63F1-B1D40BE945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D37D79-1DD8-CB8C-8C3F-7FEE8B6D5B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31C5EF-1B8E-AB17-8BBA-B471157A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F20A61-48F7-C305-6024-A36DB7689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607235-D17C-1C5A-735E-A1FDC9282B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765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83511-9003-6250-2EEC-4F2FB7CAFC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6AB862-58F8-B196-65B2-00BF0A7AD1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5B3B14-8E21-787C-0C90-D9E85E0813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1918C1-72B5-0CE3-BC4E-3C5D39BB7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5B48EA-54A1-2335-46A2-DB5C58FD5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785A44-65A4-C3F6-85A5-AE8A05F61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0030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BEEFD-49BA-2136-2DB2-0CC27DCB7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D0D311-F81D-5DB2-4AE6-B7D1EE7A3C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58E4DC-154C-BB0C-16FE-262948805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3E1A4F-2ABE-241F-6B66-4C550F5C5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91B18-1E8F-9FB3-A430-2BD5B294C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873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CF6F0EF-D9C3-AF84-E7B2-6E6A635C24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0C81F1-5B35-F7C2-9653-EE5ECC5DC7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CC9F28-847F-07B2-0A70-2BBF79EE4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70291A-4F44-7580-433B-C29221B51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3C4C79-2AFF-AE1C-6D3E-9321B5E7D8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983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EB2ED2-DA33-45B5-E7B0-7A0044EE83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D2A13A-420C-7523-2108-79B26DB4F2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106FEC-6701-8E9E-6496-BF1EF2D1AF8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FC98B4-6BEC-42C4-B60B-409DC1A1B66C}" type="datetimeFigureOut">
              <a:rPr lang="en-US" smtClean="0"/>
              <a:t>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D14CFD-7B3A-6D6C-6C89-BC4F5D94EF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088629-DC5B-0496-02BC-7DE96A7457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D45452-18C4-40C7-84F1-48ED4E347D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44546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689AF62-024C-A5A3-66A9-3B8542379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5600" y="135925"/>
            <a:ext cx="6400800" cy="163481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761119-6C8B-63D1-DF67-24CB77A1BC70}"/>
              </a:ext>
            </a:extLst>
          </p:cNvPr>
          <p:cNvSpPr txBox="1"/>
          <p:nvPr/>
        </p:nvSpPr>
        <p:spPr>
          <a:xfrm>
            <a:off x="580572" y="2046514"/>
            <a:ext cx="11205028" cy="19236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3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srgbClr val="1F497D">
                    <a:lumMod val="50000"/>
                  </a:srgbClr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alt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PROJECT FIRST REVIEW</a:t>
            </a:r>
            <a:endParaRPr lang="en-US" altLang="en-US" sz="2300" b="1" cap="all" dirty="0">
              <a:ln w="9000" cmpd="sng">
                <a:solidFill>
                  <a:srgbClr val="8064A2">
                    <a:shade val="50000"/>
                    <a:satMod val="120000"/>
                  </a:srgbClr>
                </a:solidFill>
                <a:prstDash val="solid"/>
              </a:ln>
              <a:solidFill>
                <a:srgbClr val="1F497D">
                  <a:lumMod val="50000"/>
                </a:srgbClr>
              </a:solidFill>
              <a:effectLst>
                <a:reflection blurRad="12700" stA="28000" endPos="45000" dist="1000" dir="5400000" sy="-100000" algn="bl" rotWithShape="0"/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lang="en-US" altLang="en-US" sz="4000" b="1" dirty="0">
              <a:solidFill>
                <a:srgbClr val="FF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65C6EA-E975-802C-89F1-0830FFEB79E6}"/>
              </a:ext>
            </a:extLst>
          </p:cNvPr>
          <p:cNvSpPr txBox="1"/>
          <p:nvPr/>
        </p:nvSpPr>
        <p:spPr>
          <a:xfrm>
            <a:off x="631372" y="3563717"/>
            <a:ext cx="11103428" cy="21852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Supervisor 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7030A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	                                                                                    Team Members</a:t>
            </a:r>
          </a:p>
          <a:p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Mrs. Saranya,                                                                                   </a:t>
            </a:r>
            <a:r>
              <a:rPr lang="en-IN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Aashigaa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 (8115U21CS003)                                                                                </a:t>
            </a: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Professor,                                                                          </a:t>
            </a:r>
            <a:r>
              <a:rPr lang="en-IN" sz="2000" kern="0" dirty="0" err="1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Abinayadevi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 (8115U21CS006)</a:t>
            </a:r>
          </a:p>
          <a:p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CSE,                                                                                                 Anu R (8115U21CS013)</a:t>
            </a:r>
          </a:p>
          <a:p>
            <a:r>
              <a:rPr lang="en-IN" sz="2000" kern="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KRCE                                                                                                Harini N (</a:t>
            </a:r>
            <a:r>
              <a:rPr lang="en-IN" sz="2000" kern="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8115U21CS044)</a:t>
            </a:r>
            <a:endParaRPr lang="en-IN" sz="2000" kern="100" dirty="0">
              <a:effectLst/>
              <a:latin typeface="Calibri" panose="020F0502020204030204" pitchFamily="34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AB84321-32C5-09A8-97B2-1AB7AFB05024}"/>
              </a:ext>
            </a:extLst>
          </p:cNvPr>
          <p:cNvSpPr txBox="1"/>
          <p:nvPr/>
        </p:nvSpPr>
        <p:spPr>
          <a:xfrm>
            <a:off x="3962400" y="5885189"/>
            <a:ext cx="8229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-US" sz="2800" b="1" i="0" u="none" strike="noStrike" kern="1200" cap="all" spc="0" normalizeH="0" baseline="0" noProof="0" dirty="0">
                <a:ln w="9000" cmpd="sng">
                  <a:solidFill>
                    <a:srgbClr val="8064A2">
                      <a:shade val="50000"/>
                      <a:satMod val="120000"/>
                    </a:srgbClr>
                  </a:solidFill>
                  <a:prstDash val="solid"/>
                </a:ln>
                <a:solidFill>
                  <a:prstClr val="black"/>
                </a:solidFill>
                <a:effectLst>
                  <a:reflection blurRad="12700" stA="28000" endPos="45000" dist="1000" dir="5400000" sy="-100000" algn="bl" rotWithShape="0"/>
                </a:effectLst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30.01.2025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3924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09486"/>
            <a:ext cx="12554857" cy="1328619"/>
          </a:xfrm>
        </p:spPr>
        <p:txBody>
          <a:bodyPr>
            <a:noAutofit/>
          </a:bodyPr>
          <a:lstStyle/>
          <a:p>
            <a:pPr marL="0" marR="0" algn="ctr">
              <a:lnSpc>
                <a:spcPct val="100000"/>
              </a:lnSpc>
              <a:spcAft>
                <a:spcPts val="800"/>
              </a:spcAft>
            </a:pPr>
            <a:r>
              <a:rPr lang="en-IN" sz="3200" b="1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Latha" panose="020B0604020202020204" pitchFamily="34" charset="0"/>
              </a:rPr>
              <a:t>Title :Automated IoT-Based Drainage Monitoring and Solid Waste Management System for Timely Intervention and Hygiene Maintenance</a:t>
            </a:r>
            <a:endParaRPr lang="en-US" sz="32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Latha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DA09B30-1B2F-C2E6-E43D-0E5CF0EFCEAB}"/>
              </a:ext>
            </a:extLst>
          </p:cNvPr>
          <p:cNvSpPr txBox="1"/>
          <p:nvPr/>
        </p:nvSpPr>
        <p:spPr>
          <a:xfrm>
            <a:off x="2307771" y="3686629"/>
            <a:ext cx="1255485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Domain : Internet Of Things</a:t>
            </a:r>
          </a:p>
        </p:txBody>
      </p:sp>
    </p:spTree>
    <p:extLst>
      <p:ext uri="{BB962C8B-B14F-4D97-AF65-F5344CB8AC3E}">
        <p14:creationId xmlns:p14="http://schemas.microsoft.com/office/powerpoint/2010/main" val="42642682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Urbanization increases drainage system load, leading to blockages, overflow, and hygiene issues, necessitating advanced monitoring and management solutions.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IoT-based systems offer real-time data collection and analysis, enabling proactive measures to prevent drainage-related problems in cities.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measure wastewater levels and detect blockages, ensuring timely maintenance and reducing the risk of system failures.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modules identify hazardous gases, preventing health risks and ensuring safety for maintenance workers and residents.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of IoT and LCD displays allows for continuous monitoring and easy access to drainage system status updates.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Automated alerts via buzzers ensure immediate response to critical issues, minimizing damage and maintaining public hygiene.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11429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63F1F8-8BE9-D33E-C107-17B7319DA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097BE-4A35-0225-08C5-4CD9D6171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82B1-6A25-6FA5-1305-D9772D65E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 an IoT-based system for real-time monitoring of drainage systems to prevent overflow and blockages in urban areas.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ultrasonic sensors for accurate wastewater level measurement and blockage detection to ensure efficient drainage functionality.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Detect toxic gases like methane and hydrogen sulfide to safeguard public health and maintenance personnel working in drainage systems.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real-time updates through IoT and LCD displays for easy monitoring and quick decision-making by authorities.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buzzer alerts to notify stakeholders about critical issues, enabling timely intervention and reducing potential damage.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urban hygiene by automating solid waste management and drainage monitoring, ensuring cleaner and safer living environments.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08845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F0B595C-FC33-1B57-3267-15BDFD6BDBF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89945417"/>
              </p:ext>
            </p:extLst>
          </p:nvPr>
        </p:nvGraphicFramePr>
        <p:xfrm>
          <a:off x="0" y="879530"/>
          <a:ext cx="12192000" cy="594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0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57949">
                <a:tc>
                  <a:txBody>
                    <a:bodyPr/>
                    <a:lstStyle/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</a:t>
                      </a:r>
                    </a:p>
                    <a:p>
                      <a:r>
                        <a:rPr lang="en-IN" sz="24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YEAR&amp;</a:t>
                      </a:r>
                    </a:p>
                    <a:p>
                      <a:pPr algn="ctr"/>
                      <a:r>
                        <a:rPr lang="en-IN" sz="16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PUBLICATION</a:t>
                      </a:r>
                      <a:endParaRPr lang="en-IN" sz="2800" b="1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DRAWBACKS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2800" b="1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Sewage Level Maintenance Using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Sumathy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Gowthaman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K.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HariHaran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G.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Keerthee</a:t>
                      </a: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Rajan, A. </a:t>
                      </a:r>
                      <a:r>
                        <a:rPr lang="en-IN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SweetoJeison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2018, International Journal of Mechanical Engineering and Technology (IJMET), Vol. 9, Issue 2, pp. 389–397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scalability; the system may not be adaptable to larger, more complex sewage networks.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study presents an IoT-based system for sewage level maintenance, which monitors and manages wastewater levels in drainage systems to prevent overflow and blockages.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Drainage Overflow Monitoring System Using IoT (DOMS)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Girisrinivaas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V.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Parthipan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2017, IEEE International Conference on Power, Control, Signals and Instrumentation Engineering (ICPCSI), pp. 2133-2137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primarily focuses on overflow detection but lacks predictive maintenance features.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proposed system detects drainage overflow using IoT-based sensors and sends real-time alerts to authorities for timely intervention, helping reduce urban flooding risks.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04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638824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73761-2CFF-60A3-7521-48A3B4DDD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88E0E9CE-C692-133D-C30E-C09D3083EB9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70641094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212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416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962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6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985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730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Underground Drainage Monitoring System Using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Yash N, Apurva J, Himani C, Bhosale S.P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2021, International Journal of Advance Research, Ideas and Innovations in Technology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does not account for toxic gas detection, which is essential in underground drainage systems.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research introduces an IoT-driven underground drainage monitoring system that detects blockages, water levels, and flow rates to enhance urban wastewater management.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94560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Smart City Application Using Raspberry Pi-Based IoT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sv-S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Shaikh S.A, Suvarna 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2017, International Journal of Innovative Science, Engineering, and Technology, Vol. 5, Issue VII, July 2017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Dependence on Raspberry Pi increases costs compared to microcontroller-based solutions.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discusses a smart city monitoring system utilizing Raspberry Pi for real-time drainage and water management, aiming to enhance urban infrastructure efficiency.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8049626"/>
                  </a:ext>
                </a:extLst>
              </a:tr>
              <a:tr h="1869396">
                <a:tc>
                  <a:txBody>
                    <a:bodyPr/>
                    <a:lstStyle/>
                    <a:p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Internet of Things for Underground Drainage and Manhole Monitoring Systems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Muragesh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S.K and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Santhosha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Rao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2015, International Journal of Engineering Technology, Vol. 2, Issue 4, June 2015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lacks AI-based predictive analytics for early fault detection.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This paper presents an automated IoT system for monitoring underground drainage and manholes in metropolitan cities, reducing manual inspection and improving drainage efficiency.</a:t>
                      </a:r>
                      <a:endParaRPr lang="en-IN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053126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073179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drainage systems rely on manual inspections, leading to delayed detection of blockages and inefficient waste management.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lack real-time monitoring, resulting in frequent overflows, waterlogging, and increased public health risks.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toxic gas detection is time-consuming and poses safety risks to workers, delaying necessary maintenance and repairs.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systems often fail to provide timely alerts, causing prolonged issues like blockages, overflow, and environmental pollution.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integration of IoT and automation in drainage systems reduces efficiency and increases operational costs for municipalities.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public awareness and involvement in drainage monitoring leads to improper waste disposal and system overloading.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4970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DRAWBACKS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 monitoring of drainage systems is inefficient, leading to delayed responses and increased risk of system failures.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methods lack real-time data, making it difficult to predict and prevent blockages or overflows effectively.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in existing systems is often manual, posing safety risks and delaying necessary maintenance actions.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Absence of automated alerts results in prolonged issues, causing environmental pollution and public health hazards.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use of IoT and automation increases operational costs and reduces the overall efficiency of drainage systems.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Poor public awareness and involvement in waste management lead to improper disposal and overloading of drainage systems.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6078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system uses IoT for real-time monitoring of drainage systems, ensuring timely intervention and maintenance.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measure wastewater levels and detect blockages, preventing overflow and maintaining system efficiency.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modules identify harmful gases, ensuring safety for maintenance workers and residents in urban areas.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and LCD displays provide real-time updates, enabling quick decision-making and efficient management of drainage systems.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alerts notify authorities and residents about critical issues, ensuring immediate action and minimizing potential damage.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enhances urban hygiene by automating solid waste management and drainage monitoring, ensuring cleaner environments.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52588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99840"/>
            <a:ext cx="10515600" cy="900000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D148818-889D-9733-2497-B7C33D25F6B4}"/>
              </a:ext>
            </a:extLst>
          </p:cNvPr>
          <p:cNvGrpSpPr/>
          <p:nvPr/>
        </p:nvGrpSpPr>
        <p:grpSpPr>
          <a:xfrm>
            <a:off x="2362465" y="1366968"/>
            <a:ext cx="7467069" cy="4424537"/>
            <a:chOff x="2651432" y="798399"/>
            <a:chExt cx="7467069" cy="4424537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13963F08-0F07-8EF0-8106-327C5170B67F}"/>
                </a:ext>
              </a:extLst>
            </p:cNvPr>
            <p:cNvCxnSpPr>
              <a:stCxn id="13" idx="2"/>
            </p:cNvCxnSpPr>
            <p:nvPr/>
          </p:nvCxnSpPr>
          <p:spPr>
            <a:xfrm>
              <a:off x="6506621" y="1459333"/>
              <a:ext cx="0" cy="44613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CB558307-A1FE-C95C-74E2-73AC194F506D}"/>
                </a:ext>
              </a:extLst>
            </p:cNvPr>
            <p:cNvCxnSpPr>
              <a:endCxn id="10" idx="1"/>
            </p:cNvCxnSpPr>
            <p:nvPr/>
          </p:nvCxnSpPr>
          <p:spPr>
            <a:xfrm>
              <a:off x="7512461" y="3347950"/>
              <a:ext cx="929640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7" name="Straight Arrow Connector 6">
              <a:extLst>
                <a:ext uri="{FF2B5EF4-FFF2-40B4-BE49-F238E27FC236}">
                  <a16:creationId xmlns:a16="http://schemas.microsoft.com/office/drawing/2014/main" id="{43620CF1-16E5-A759-9E50-D41502A74F0B}"/>
                </a:ext>
              </a:extLst>
            </p:cNvPr>
            <p:cNvCxnSpPr>
              <a:endCxn id="11" idx="1"/>
            </p:cNvCxnSpPr>
            <p:nvPr/>
          </p:nvCxnSpPr>
          <p:spPr>
            <a:xfrm>
              <a:off x="7512461" y="2298727"/>
              <a:ext cx="897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8" name="Rounded Rectangle 42">
              <a:extLst>
                <a:ext uri="{FF2B5EF4-FFF2-40B4-BE49-F238E27FC236}">
                  <a16:creationId xmlns:a16="http://schemas.microsoft.com/office/drawing/2014/main" id="{DBBE31EF-426B-7EA7-45AE-7009CCAD1B25}"/>
                </a:ext>
              </a:extLst>
            </p:cNvPr>
            <p:cNvSpPr/>
            <p:nvPr/>
          </p:nvSpPr>
          <p:spPr>
            <a:xfrm>
              <a:off x="2651432" y="2182653"/>
              <a:ext cx="2006222" cy="61038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Toxic Gas Sensor</a:t>
              </a:r>
            </a:p>
          </p:txBody>
        </p:sp>
        <p:cxnSp>
          <p:nvCxnSpPr>
            <p:cNvPr id="9" name="Straight Arrow Connector 8">
              <a:extLst>
                <a:ext uri="{FF2B5EF4-FFF2-40B4-BE49-F238E27FC236}">
                  <a16:creationId xmlns:a16="http://schemas.microsoft.com/office/drawing/2014/main" id="{86654A62-A1C6-35EF-9E6F-12006F80755D}"/>
                </a:ext>
              </a:extLst>
            </p:cNvPr>
            <p:cNvCxnSpPr>
              <a:stCxn id="8" idx="3"/>
            </p:cNvCxnSpPr>
            <p:nvPr/>
          </p:nvCxnSpPr>
          <p:spPr>
            <a:xfrm>
              <a:off x="4657654" y="2487846"/>
              <a:ext cx="843127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0" name="Rounded Rectangle 40">
              <a:extLst>
                <a:ext uri="{FF2B5EF4-FFF2-40B4-BE49-F238E27FC236}">
                  <a16:creationId xmlns:a16="http://schemas.microsoft.com/office/drawing/2014/main" id="{30FDE190-7F57-36E8-4886-9C331E61F530}"/>
                </a:ext>
              </a:extLst>
            </p:cNvPr>
            <p:cNvSpPr/>
            <p:nvPr/>
          </p:nvSpPr>
          <p:spPr>
            <a:xfrm>
              <a:off x="8442101" y="3080823"/>
              <a:ext cx="1676400" cy="534256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IOT Module</a:t>
              </a:r>
            </a:p>
          </p:txBody>
        </p:sp>
        <p:sp>
          <p:nvSpPr>
            <p:cNvPr id="11" name="Rounded Rectangle 38">
              <a:extLst>
                <a:ext uri="{FF2B5EF4-FFF2-40B4-BE49-F238E27FC236}">
                  <a16:creationId xmlns:a16="http://schemas.microsoft.com/office/drawing/2014/main" id="{40DAEA03-C322-140A-2DA5-4375C05C1A84}"/>
                </a:ext>
              </a:extLst>
            </p:cNvPr>
            <p:cNvSpPr/>
            <p:nvPr/>
          </p:nvSpPr>
          <p:spPr>
            <a:xfrm>
              <a:off x="8409842" y="2031598"/>
              <a:ext cx="1708659" cy="53425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LCD Display</a:t>
              </a:r>
            </a:p>
          </p:txBody>
        </p:sp>
        <p:sp>
          <p:nvSpPr>
            <p:cNvPr id="12" name="Rounded Rectangle 36">
              <a:extLst>
                <a:ext uri="{FF2B5EF4-FFF2-40B4-BE49-F238E27FC236}">
                  <a16:creationId xmlns:a16="http://schemas.microsoft.com/office/drawing/2014/main" id="{F6C100C7-3BCF-BF10-CAC7-DD313CC15C81}"/>
                </a:ext>
              </a:extLst>
            </p:cNvPr>
            <p:cNvSpPr/>
            <p:nvPr/>
          </p:nvSpPr>
          <p:spPr>
            <a:xfrm>
              <a:off x="5500781" y="1910972"/>
              <a:ext cx="2011680" cy="331196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Arduino Uno</a:t>
              </a:r>
            </a:p>
          </p:txBody>
        </p:sp>
        <p:sp>
          <p:nvSpPr>
            <p:cNvPr id="13" name="Rounded Rectangle 34">
              <a:extLst>
                <a:ext uri="{FF2B5EF4-FFF2-40B4-BE49-F238E27FC236}">
                  <a16:creationId xmlns:a16="http://schemas.microsoft.com/office/drawing/2014/main" id="{A95156F7-1DBA-B7E9-E915-507758B62D51}"/>
                </a:ext>
              </a:extLst>
            </p:cNvPr>
            <p:cNvSpPr/>
            <p:nvPr/>
          </p:nvSpPr>
          <p:spPr>
            <a:xfrm>
              <a:off x="5592221" y="798399"/>
              <a:ext cx="1828800" cy="66093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Power supply unit</a:t>
              </a:r>
            </a:p>
          </p:txBody>
        </p:sp>
        <p:sp>
          <p:nvSpPr>
            <p:cNvPr id="14" name="Rounded Rectangle 24">
              <a:extLst>
                <a:ext uri="{FF2B5EF4-FFF2-40B4-BE49-F238E27FC236}">
                  <a16:creationId xmlns:a16="http://schemas.microsoft.com/office/drawing/2014/main" id="{03938FE5-BCDF-63F3-2E3E-76C87715DDB2}"/>
                </a:ext>
              </a:extLst>
            </p:cNvPr>
            <p:cNvSpPr/>
            <p:nvPr/>
          </p:nvSpPr>
          <p:spPr>
            <a:xfrm>
              <a:off x="2667101" y="4064961"/>
              <a:ext cx="2019259" cy="642449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Ultrasonic Sensor</a:t>
              </a:r>
            </a:p>
          </p:txBody>
        </p: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DC804CE-867D-C2FA-2103-79F56F6DD041}"/>
                </a:ext>
              </a:extLst>
            </p:cNvPr>
            <p:cNvCxnSpPr>
              <a:stCxn id="14" idx="3"/>
            </p:cNvCxnSpPr>
            <p:nvPr/>
          </p:nvCxnSpPr>
          <p:spPr>
            <a:xfrm flipV="1">
              <a:off x="4686360" y="4385277"/>
              <a:ext cx="818408" cy="908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214A2BCA-3A04-8AFC-E468-0051CEC35F7F}"/>
                </a:ext>
              </a:extLst>
            </p:cNvPr>
            <p:cNvCxnSpPr>
              <a:endCxn id="17" idx="1"/>
            </p:cNvCxnSpPr>
            <p:nvPr/>
          </p:nvCxnSpPr>
          <p:spPr>
            <a:xfrm>
              <a:off x="7512461" y="4419463"/>
              <a:ext cx="897381" cy="0"/>
            </a:xfrm>
            <a:prstGeom prst="straightConnector1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</p:cxnSp>
        <p:sp>
          <p:nvSpPr>
            <p:cNvPr id="17" name="Rounded Rectangle 43">
              <a:extLst>
                <a:ext uri="{FF2B5EF4-FFF2-40B4-BE49-F238E27FC236}">
                  <a16:creationId xmlns:a16="http://schemas.microsoft.com/office/drawing/2014/main" id="{DAA5BEE6-FC9F-7887-7F49-755230A8FD49}"/>
                </a:ext>
              </a:extLst>
            </p:cNvPr>
            <p:cNvSpPr/>
            <p:nvPr/>
          </p:nvSpPr>
          <p:spPr>
            <a:xfrm>
              <a:off x="8409842" y="4152334"/>
              <a:ext cx="1708659" cy="53425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IN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 Buzzer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633766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484D70-8770-09AA-176E-1B400B3E8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83E17D-DB6D-C5A4-009B-C1324080E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D8343-59B4-F670-3B19-310CA2446E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 numCol="1"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 module measures wastewater levels and detects blockages, ensuring efficient drainage system functionality.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Toxic gas detection module identifies harmful gases like methane and hydrogen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sulfide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ensuring safety in drainage systems.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module collects and transmits real-time data to a central system for monitoring and analysis of drainage status.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 module provides visual updates on drainage conditions, waste levels, and toxic gas presence for easy access.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 module notifies authorities and residents about critical issues, enabling immediate action to prevent damage.</a:t>
            </a:r>
          </a:p>
          <a:p>
            <a:pPr algn="just">
              <a:lnSpc>
                <a:spcPct val="15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Microcontroller module integrates all components, ensuring seamless operation and communication within the proposed system.</a:t>
            </a: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94762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A9A545-5271-C688-FFB1-69E7D4A45E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46B064-C908-B572-236E-C5F67E109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PLATFORM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E9EB7-110B-FECC-BBCC-1FBD77016E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34096"/>
            <a:ext cx="10515600" cy="6123904"/>
          </a:xfrm>
        </p:spPr>
        <p:txBody>
          <a:bodyPr numCol="1"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implemented using Arduino or Raspberry Pi as the microcontroller for seamless integration of components.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Ultrasonic sensors and toxic gas detection modules are connected to the microcontroller for real-time data collection.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IoT platforms like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ThingSpeak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or Blynk are used for data transmission and real-time monitoring of drainage systems.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LCD displays are integrated to provide visual updates on drainage status, waste levels, and toxic gas presence.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Buzzer alerts are connected to the microcontroller to notify stakeholders about critical issues in the drainage system.</a:t>
            </a:r>
          </a:p>
          <a:p>
            <a:pPr algn="just">
              <a:lnSpc>
                <a:spcPct val="150000"/>
              </a:lnSpc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powered by a reliable power source, ensuring continuous operation and monitoring of drainage conditions.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1355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CF5A51-5364-1898-EF76-04D46AF73D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463EA0-0CD4-7428-8CA9-5CF65BDB4F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 PLAN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FB66D61-C961-7528-BE13-298F333C499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7481321"/>
              </p:ext>
            </p:extLst>
          </p:nvPr>
        </p:nvGraphicFramePr>
        <p:xfrm>
          <a:off x="502920" y="734096"/>
          <a:ext cx="11178541" cy="577230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725383">
                  <a:extLst>
                    <a:ext uri="{9D8B030D-6E8A-4147-A177-3AD203B41FA5}">
                      <a16:colId xmlns:a16="http://schemas.microsoft.com/office/drawing/2014/main" val="1438341365"/>
                    </a:ext>
                  </a:extLst>
                </a:gridCol>
                <a:gridCol w="3726579">
                  <a:extLst>
                    <a:ext uri="{9D8B030D-6E8A-4147-A177-3AD203B41FA5}">
                      <a16:colId xmlns:a16="http://schemas.microsoft.com/office/drawing/2014/main" val="4262607052"/>
                    </a:ext>
                  </a:extLst>
                </a:gridCol>
                <a:gridCol w="3726579">
                  <a:extLst>
                    <a:ext uri="{9D8B030D-6E8A-4147-A177-3AD203B41FA5}">
                      <a16:colId xmlns:a16="http://schemas.microsoft.com/office/drawing/2014/main" val="1043395730"/>
                    </a:ext>
                  </a:extLst>
                </a:gridCol>
              </a:tblGrid>
              <a:tr h="25700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Milestone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Description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Timeline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6130815"/>
                  </a:ext>
                </a:extLst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 System Design &amp; Component Selection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Define system architecture, select sensors, and create circuit diagrams.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1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75415199"/>
                  </a:ext>
                </a:extLst>
              </a:tr>
              <a:tr h="1075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2. Hardware Integration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Assemble and connect Arduino, Node MCU, ultrasonic sensors, toxic gas sensors, and LCD.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2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5247901"/>
                  </a:ext>
                </a:extLst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 Sensor Calibration &amp; Testing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Implement wastewater level detection and gas sensors, calibrate for accuracy.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3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5649454"/>
                  </a:ext>
                </a:extLst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 IoT and Alert System Implementation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 up real-time monitoring via IoT, LCD display, and buzzer alerts.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4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85952254"/>
                  </a:ext>
                </a:extLst>
              </a:tr>
              <a:tr h="1075994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 Testing and Debugging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Conduct system tests in controlled environments, troubleshoot hardware/software issues.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5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71287622"/>
                  </a:ext>
                </a:extLst>
              </a:tr>
              <a:tr h="80299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 Deployment &amp; Optimization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Install in real-world locations, optimize performance, and ensure reliability.</a:t>
                      </a:r>
                      <a:endParaRPr lang="en-US" sz="1800" kern="1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800"/>
                        </a:spcAft>
                      </a:pPr>
                      <a:r>
                        <a:rPr lang="en-US" sz="1800" kern="1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Week 6</a:t>
                      </a:r>
                      <a:endParaRPr lang="en-US" sz="1800" kern="1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236812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509569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63744-5D12-2256-11AE-58A148DA6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FE61D8-7686-B799-B90D-5F1D0F30A0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"/>
            <a:ext cx="10515600" cy="734095"/>
          </a:xfrm>
        </p:spPr>
        <p:txBody>
          <a:bodyPr>
            <a:normAutofit/>
          </a:bodyPr>
          <a:lstStyle/>
          <a:p>
            <a:pPr algn="ctr"/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 PAPER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E8813BA-5049-8B6A-6EB0-3832DA4ADD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508669"/>
            <a:ext cx="10515600" cy="1840662"/>
          </a:xfrm>
        </p:spPr>
        <p:txBody>
          <a:bodyPr numCol="1"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Gerlin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Y Gnana Priya; k R Swetha; 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Kaladevi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Hariharan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Shanmugasundaram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A Bhanuprasad, "Sewage Monitoring System Using IoT", 2023 International Conference on Computer Communication and Informatics (ICCCI ), Jan. 23 – 25, 2023, Coimbatore, INDIA .</a:t>
            </a:r>
          </a:p>
        </p:txBody>
      </p:sp>
    </p:spTree>
    <p:extLst>
      <p:ext uri="{BB962C8B-B14F-4D97-AF65-F5344CB8AC3E}">
        <p14:creationId xmlns:p14="http://schemas.microsoft.com/office/powerpoint/2010/main" val="34946158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3026535"/>
            <a:ext cx="12192000" cy="1139780"/>
          </a:xfrm>
        </p:spPr>
        <p:txBody>
          <a:bodyPr>
            <a:normAutofit fontScale="55000" lnSpcReduction="20000"/>
          </a:bodyPr>
          <a:lstStyle/>
          <a:p>
            <a:pPr marL="0" indent="0" algn="ctr">
              <a:lnSpc>
                <a:spcPct val="150000"/>
              </a:lnSpc>
              <a:buNone/>
            </a:pPr>
            <a:r>
              <a:rPr lang="en-US" sz="8800" dirty="0">
                <a:ln w="0"/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THANK </a:t>
            </a:r>
            <a:r>
              <a:rPr lang="en-US" sz="8800" dirty="0">
                <a:ln w="0"/>
                <a:solidFill>
                  <a:schemeClr val="accent2"/>
                </a:solidFill>
                <a:effectLst>
                  <a:reflection blurRad="6350" stA="53000" endA="300" endPos="35500" dir="5400000" sy="-90000" algn="bl" rotWithShape="0"/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</a:p>
          <a:p>
            <a:pPr marL="0" indent="0" algn="just">
              <a:lnSpc>
                <a:spcPct val="150000"/>
              </a:lnSpc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30037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1465</Words>
  <Application>Microsoft Office PowerPoint</Application>
  <PresentationFormat>Widescreen</PresentationFormat>
  <Paragraphs>134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Theme</vt:lpstr>
      <vt:lpstr>PowerPoint Presentation</vt:lpstr>
      <vt:lpstr>Title :Automated IoT-Based Drainage Monitoring and Solid Waste Management System for Timely Intervention and Hygiene Maintenance</vt:lpstr>
      <vt:lpstr>INTRODUCTION</vt:lpstr>
      <vt:lpstr>OBJECTIVE</vt:lpstr>
      <vt:lpstr>LITERATURE SURVEY</vt:lpstr>
      <vt:lpstr>PowerPoint Presentation</vt:lpstr>
      <vt:lpstr>EXISTING SYSTEM</vt:lpstr>
      <vt:lpstr>DRAWBACKS</vt:lpstr>
      <vt:lpstr>PROPOSED SYSTEM</vt:lpstr>
      <vt:lpstr>SYSTEM ARCHITECTURE</vt:lpstr>
      <vt:lpstr>MODULES</vt:lpstr>
      <vt:lpstr>IMPLEMENTATION PLATFORM</vt:lpstr>
      <vt:lpstr>WORK PLAN</vt:lpstr>
      <vt:lpstr>BASE PAPER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user</dc:creator>
  <cp:lastModifiedBy>Anu R</cp:lastModifiedBy>
  <cp:revision>5</cp:revision>
  <dcterms:created xsi:type="dcterms:W3CDTF">2025-01-29T10:01:54Z</dcterms:created>
  <dcterms:modified xsi:type="dcterms:W3CDTF">2025-01-29T13:35:31Z</dcterms:modified>
</cp:coreProperties>
</file>