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7" r:id="rId3"/>
    <p:sldId id="289" r:id="rId4"/>
    <p:sldId id="288" r:id="rId5"/>
    <p:sldId id="296" r:id="rId6"/>
    <p:sldId id="294" r:id="rId7"/>
    <p:sldId id="300" r:id="rId8"/>
    <p:sldId id="299" r:id="rId9"/>
    <p:sldId id="290" r:id="rId10"/>
    <p:sldId id="291" r:id="rId11"/>
    <p:sldId id="292" r:id="rId12"/>
    <p:sldId id="298" r:id="rId13"/>
    <p:sldId id="301" r:id="rId14"/>
    <p:sldId id="305" r:id="rId15"/>
    <p:sldId id="308" r:id="rId16"/>
    <p:sldId id="306" r:id="rId17"/>
    <p:sldId id="28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5" autoAdjust="0"/>
    <p:restoredTop sz="94660"/>
  </p:normalViewPr>
  <p:slideViewPr>
    <p:cSldViewPr snapToGrid="0">
      <p:cViewPr>
        <p:scale>
          <a:sx n="66" d="100"/>
          <a:sy n="66" d="100"/>
        </p:scale>
        <p:origin x="30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C98B4-6BEC-42C4-B60B-409DC1A1B6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45452-18C4-40C7-84F1-48ED4E347DC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600" y="135925"/>
            <a:ext cx="6400800" cy="163481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580572" y="2046514"/>
            <a:ext cx="11205028" cy="192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300" b="1" i="0" u="none" strike="noStrike" kern="1200" cap="all" spc="0" normalizeH="0" baseline="0" noProof="0" dirty="0">
                <a:ln w="9000" cmpd="sng">
                  <a:solidFill>
                    <a:srgbClr val="8064A2">
                      <a:shade val="50000"/>
                      <a:satMod val="120000"/>
                    </a:srgbClr>
                  </a:solidFill>
                  <a:prstDash val="solid"/>
                </a:ln>
                <a:solidFill>
                  <a:srgbClr val="1F497D">
                    <a:lumMod val="50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</a:t>
            </a:r>
            <a:endParaRPr kumimoji="0" lang="en-US" sz="2300" b="1" i="0" u="none" strike="noStrike" kern="1200" cap="all" spc="0" normalizeH="0" baseline="0" noProof="0" dirty="0">
              <a:ln w="9000" cmpd="sng">
                <a:solidFill>
                  <a:srgbClr val="8064A2">
                    <a:shade val="50000"/>
                    <a:satMod val="120000"/>
                  </a:srgbClr>
                </a:solidFill>
                <a:prstDash val="solid"/>
              </a:ln>
              <a:solidFill>
                <a:srgbClr val="1F497D">
                  <a:lumMod val="50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 </a:t>
            </a:r>
            <a:r>
              <a:rPr kumimoji="0" lang="en-I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THIRD</a:t>
            </a:r>
            <a:r>
              <a:rPr kumimoji="0" lang="en-US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REVIEW</a:t>
            </a:r>
            <a:endParaRPr lang="en-US" altLang="en-US" sz="2300" b="1" cap="all" dirty="0">
              <a:ln w="9000" cmpd="sng">
                <a:solidFill>
                  <a:srgbClr val="8064A2">
                    <a:shade val="50000"/>
                    <a:satMod val="120000"/>
                  </a:srgbClr>
                </a:solidFill>
                <a:prstDash val="solid"/>
              </a:ln>
              <a:solidFill>
                <a:srgbClr val="1F497D">
                  <a:lumMod val="50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en-US" sz="4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1372" y="3563717"/>
            <a:ext cx="1110342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Supervisor Name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                                                                            Team Members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IN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Mrs. Saranya,                                                                                   </a:t>
            </a:r>
            <a:r>
              <a:rPr lang="en-IN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Aashigaa</a:t>
            </a:r>
            <a:r>
              <a:rPr lang="en-IN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 (8115U21CS003)                                                                                </a:t>
            </a:r>
            <a:endParaRPr lang="en-IN" sz="20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                                                                         </a:t>
            </a:r>
            <a:r>
              <a:rPr lang="en-IN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Abinayadevi</a:t>
            </a:r>
            <a:r>
              <a:rPr lang="en-IN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 (8115U21CS006)</a:t>
            </a:r>
            <a:endParaRPr lang="en-IN" sz="20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CSE,                                                                                                 Anu R (8115U21CS013)</a:t>
            </a:r>
            <a:endParaRPr lang="en-IN" sz="20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KRCE                                                                                                Harini N (</a:t>
            </a:r>
            <a:r>
              <a:rPr lang="en-IN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8115U21CS044)</a:t>
            </a:r>
            <a:endParaRPr lang="en-IN" sz="20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3962400" y="5885189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1" i="0" u="none" strike="noStrike" kern="1200" cap="all" spc="0" normalizeH="0" baseline="0" noProof="0" dirty="0">
                <a:ln w="9000" cmpd="sng">
                  <a:solidFill>
                    <a:srgbClr val="8064A2">
                      <a:shade val="50000"/>
                      <a:satMod val="120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en-IN" altLang="en-US" sz="2800" b="1" i="0" u="none" strike="noStrike" kern="1200" cap="all" spc="0" normalizeH="0" baseline="0" noProof="0" dirty="0">
                <a:ln w="9000" cmpd="sng">
                  <a:solidFill>
                    <a:srgbClr val="8064A2">
                      <a:shade val="50000"/>
                      <a:satMod val="120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26</a:t>
            </a:r>
            <a:r>
              <a:rPr kumimoji="0" lang="en-US" sz="2800" b="1" i="0" u="none" strike="noStrike" kern="1200" cap="all" spc="0" normalizeH="0" baseline="0" noProof="0" dirty="0">
                <a:ln w="9000" cmpd="sng">
                  <a:solidFill>
                    <a:srgbClr val="8064A2">
                      <a:shade val="50000"/>
                      <a:satMod val="120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.0</a:t>
            </a:r>
            <a:r>
              <a:rPr kumimoji="0" lang="en-IN" altLang="en-US" sz="2800" b="1" i="0" u="none" strike="noStrike" kern="1200" cap="all" spc="0" normalizeH="0" baseline="0" noProof="0" dirty="0">
                <a:ln w="9000" cmpd="sng">
                  <a:solidFill>
                    <a:srgbClr val="8064A2">
                      <a:shade val="50000"/>
                      <a:satMod val="120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en-US" sz="2800" b="1" i="0" u="none" strike="noStrike" kern="1200" cap="all" spc="0" normalizeH="0" baseline="0" noProof="0" dirty="0">
                <a:ln w="9000" cmpd="sng">
                  <a:solidFill>
                    <a:srgbClr val="8064A2">
                      <a:shade val="50000"/>
                      <a:satMod val="120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.2025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09486"/>
            <a:ext cx="12554857" cy="1328619"/>
          </a:xfrm>
        </p:spPr>
        <p:txBody>
          <a:bodyPr>
            <a:noAutofit/>
          </a:bodyPr>
          <a:lstStyle/>
          <a:p>
            <a:pPr marL="0" marR="0" algn="ctr">
              <a:lnSpc>
                <a:spcPct val="100000"/>
              </a:lnSpc>
              <a:spcAft>
                <a:spcPts val="800"/>
              </a:spcAft>
            </a:pPr>
            <a:r>
              <a:rPr lang="en-IN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Title :Automated IoT-Based Drainage Monitoring and Solid Waste Management System </a:t>
            </a:r>
            <a:endParaRPr lang="en-US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07590" y="2941955"/>
            <a:ext cx="12554585" cy="13296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Domain : Internet Of Things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4096"/>
            <a:ext cx="10515600" cy="612390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Urbanization increases drainage system load, leading to blockages, overflow, and hygiene issues, necessitating advanced monitoring and management solutions.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systems offer real-time data collection and analysis, enabling proactive measures to prevent drainage-related problems in cities.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 measure wastewater levels and detect blockages, ensuring timely maintenance and reducing the risk of system failures.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 gas detection modules identify hazardous gases, preventing health risks and ensuring safety for maintenance workers and residents.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IoT and LCD displays allows for continuous monitoring and easy access to drainage system status updates.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alerts via buzzers ensure immediate response to critical issues, minimizing damage and maintaining public hygiene.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4096"/>
            <a:ext cx="10515600" cy="612390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IoT-based system for real-time monitoring of drainage systems to prevent overflow and blockages in urban areas.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ultrasonic sensors for accurate wastewater level measurement and blockage detection to ensure efficient drainage functionality.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toxic gases like methane and hydrogen sulfide to safeguard public health and maintenance personnel working in drainage systems.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updates through IoT and LCD displays for easy monitoring and quick decision-making by authorities.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buzzer alerts to notify stakeholders about critical issues, enabling timely intervention and reducing potential damage.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urban hygiene by automating solid waste management and drainage monitoring, ensuring cleaner and safer living environments.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879530"/>
          <a:ext cx="12192000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1217"/>
                <a:gridCol w="1841679"/>
                <a:gridCol w="1996225"/>
                <a:gridCol w="1661375"/>
                <a:gridCol w="2498501"/>
                <a:gridCol w="3473003"/>
              </a:tblGrid>
              <a:tr h="757949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YEAR&amp;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</a:t>
                      </a:r>
                      <a:endParaRPr lang="en-IN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  <a:endParaRPr lang="en-IN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6939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Sewage Level Maintenance Using IoT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B.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Sumathy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G.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Gowthaman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K.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HariHaran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G.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Keerthee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Rajan, A.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SweetoJeison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2018, International Journal of Mechanical Engineering and Technology (IJMET), Vol. 9, Issue 2, pp. 389–397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scalability; the system may not be adaptable to larger, more complex sewage networks.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study presents an IoT-based system for sewage level maintenance, which monitors and manages wastewater levels in drainage systems to prevent overflow and blockages.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6939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Drainage Overflow Monitoring System Using IoT (DOMS)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Girisrinivaas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V.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Parthipan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2017, IEEE International Conference on Power, Control, Signals and Instrumentation Engineering (ICPCSI), pp. 2133-2137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primarily focuses on overflow detection but lacks predictive maintenance features.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proposed system detects drainage overflow using IoT-based sensors and sends real-time alerts to authorities for timely intervention, helping reduce urban flooding risks.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1217"/>
                <a:gridCol w="1841679"/>
                <a:gridCol w="1996225"/>
                <a:gridCol w="1661375"/>
                <a:gridCol w="2498501"/>
                <a:gridCol w="3473003"/>
              </a:tblGrid>
              <a:tr h="186939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Underground Drainage Monitoring System Using IoT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Yash N, Apurva J, Himani C, Bhosale S.P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2021, International Journal of Advance Research, Ideas and Innovations in Technology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does not account for toxic gas detection, which is essential in underground drainage systems.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research introduces an IoT-driven underground drainage monitoring system that detects blockages, water levels, and flow rates to enhance urban wastewater management.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19456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 Smart City Application Using Raspberry Pi-Based IoT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Shaikh S.A, Suvarna 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2017, International Journal of Innovative Science, Engineering, and Technology, Vol. 5, Issue VII, July 2017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Dependence on Raspberry Pi increases costs compared to microcontroller-based solutions.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discusses a smart city monitoring system utilizing Raspberry Pi for real-time drainage and water management, aiming to enhance urban infrastructure efficiency.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6939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Internet of Things for Underground Drainage and Manhole Monitoring Systems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Muragesh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S.K and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Santhosha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2015, International Journal of Engineering Technology, Vol. 2, Issue 4, June 2015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lacks AI-based predictive analytics for early fault detection.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paper presents an automated IoT system for monitoring underground drainage and manholes in metropolitan cities, reducing manual inspection and improving drainage efficiency.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4096"/>
            <a:ext cx="10515600" cy="612390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drainage systems rely on manual inspections, leading to delayed detection of blockages and inefficient waste management.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lack real-time monitoring, resulting in frequent overflows, waterlogging, and increased public health risks.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toxic gas detection is time-consuming and poses safety risks to workers, delaying necessary maintenance and repairs.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fail to provide timely alerts, causing prolonged issues like blockages, overflow, and environmental pollution.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IoT and automation in drainage systems reduces efficiency and increases operational costs for municipalities.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public awareness and involvement in drainage monitoring leads to improper waste disposal and system overloading.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4096"/>
            <a:ext cx="10515600" cy="612390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drainage systems is inefficient, leading to delayed responses and increased risk of system failures.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lack real-time data, making it difficult to predict and prevent blockages or overflows effectively.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 gas detection in existing systems is often manual, posing safety risks and delaying necessary maintenance actions.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automated alerts results in prolonged issues, causing environmental pollution and public health hazards.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use of IoT and automation increases operational costs and reduces the overall efficiency of drainage systems.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public awareness and involvement in waste management lead to improper disposal and overloading of drainage systems.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4096"/>
            <a:ext cx="10515600" cy="612390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IoT for real-time monitoring of drainage systems, ensuring timely intervention and maintenance.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 measure wastewater levels and detect blockages, preventing overflow and maintaining system efficiency.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 gas detection modules identify harmful gases, ensuring safety for maintenance workers and residents in urban areas.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and LCD displays provide real-time updates, enabling quick decision-making and efficient management of drainage systems.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alerts notify authorities and residents about critical issues, ensuring immediate action and minimizing potential damage.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enhances urban hygiene by automating solid waste management and drainage monitoring, ensuring cleaner environments.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9840"/>
            <a:ext cx="10515600" cy="90000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362465" y="1366968"/>
            <a:ext cx="7467069" cy="4424537"/>
            <a:chOff x="2651432" y="798399"/>
            <a:chExt cx="7467069" cy="4424537"/>
          </a:xfrm>
        </p:grpSpPr>
        <p:cxnSp>
          <p:nvCxnSpPr>
            <p:cNvPr id="5" name="Straight Arrow Connector 4"/>
            <p:cNvCxnSpPr>
              <a:stCxn id="13" idx="2"/>
            </p:cNvCxnSpPr>
            <p:nvPr/>
          </p:nvCxnSpPr>
          <p:spPr>
            <a:xfrm>
              <a:off x="6506621" y="1459333"/>
              <a:ext cx="0" cy="4461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" name="Straight Arrow Connector 5"/>
            <p:cNvCxnSpPr>
              <a:endCxn id="10" idx="1"/>
            </p:cNvCxnSpPr>
            <p:nvPr/>
          </p:nvCxnSpPr>
          <p:spPr>
            <a:xfrm>
              <a:off x="7512461" y="3347950"/>
              <a:ext cx="9296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" name="Straight Arrow Connector 6"/>
            <p:cNvCxnSpPr>
              <a:endCxn id="11" idx="1"/>
            </p:cNvCxnSpPr>
            <p:nvPr/>
          </p:nvCxnSpPr>
          <p:spPr>
            <a:xfrm>
              <a:off x="7512461" y="2298727"/>
              <a:ext cx="8973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8" name="Rounded Rectangle 42"/>
            <p:cNvSpPr/>
            <p:nvPr/>
          </p:nvSpPr>
          <p:spPr>
            <a:xfrm>
              <a:off x="2651432" y="2182653"/>
              <a:ext cx="2006222" cy="61038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Toxic Gas Sensor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Straight Arrow Connector 8"/>
            <p:cNvCxnSpPr>
              <a:stCxn id="8" idx="3"/>
            </p:cNvCxnSpPr>
            <p:nvPr/>
          </p:nvCxnSpPr>
          <p:spPr>
            <a:xfrm>
              <a:off x="4657654" y="2487846"/>
              <a:ext cx="84312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10" name="Rounded Rectangle 40"/>
            <p:cNvSpPr/>
            <p:nvPr/>
          </p:nvSpPr>
          <p:spPr>
            <a:xfrm>
              <a:off x="8442101" y="3080823"/>
              <a:ext cx="1676400" cy="53425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IOT Module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ounded Rectangle 38"/>
            <p:cNvSpPr/>
            <p:nvPr/>
          </p:nvSpPr>
          <p:spPr>
            <a:xfrm>
              <a:off x="8409842" y="2031598"/>
              <a:ext cx="1708659" cy="53425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LCD Display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ounded Rectangle 36"/>
            <p:cNvSpPr/>
            <p:nvPr/>
          </p:nvSpPr>
          <p:spPr>
            <a:xfrm>
              <a:off x="5500781" y="1910972"/>
              <a:ext cx="2011680" cy="3311964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Arduino Uno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ounded Rectangle 34"/>
            <p:cNvSpPr/>
            <p:nvPr/>
          </p:nvSpPr>
          <p:spPr>
            <a:xfrm>
              <a:off x="5592221" y="798399"/>
              <a:ext cx="1828800" cy="660934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Power supply unit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ounded Rectangle 24"/>
            <p:cNvSpPr/>
            <p:nvPr/>
          </p:nvSpPr>
          <p:spPr>
            <a:xfrm>
              <a:off x="2667101" y="4064961"/>
              <a:ext cx="2019259" cy="64244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Ultrasonic Sensor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Straight Arrow Connector 14"/>
            <p:cNvCxnSpPr>
              <a:stCxn id="14" idx="3"/>
            </p:cNvCxnSpPr>
            <p:nvPr/>
          </p:nvCxnSpPr>
          <p:spPr>
            <a:xfrm flipV="1">
              <a:off x="4686360" y="4385277"/>
              <a:ext cx="818408" cy="9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6" name="Straight Arrow Connector 15"/>
            <p:cNvCxnSpPr>
              <a:endCxn id="17" idx="1"/>
            </p:cNvCxnSpPr>
            <p:nvPr/>
          </p:nvCxnSpPr>
          <p:spPr>
            <a:xfrm>
              <a:off x="7512461" y="4419463"/>
              <a:ext cx="8973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17" name="Rounded Rectangle 43"/>
            <p:cNvSpPr/>
            <p:nvPr/>
          </p:nvSpPr>
          <p:spPr>
            <a:xfrm>
              <a:off x="8409842" y="4152334"/>
              <a:ext cx="1708659" cy="53425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Buzzer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4096"/>
            <a:ext cx="10515600" cy="6123904"/>
          </a:xfrm>
        </p:spPr>
        <p:txBody>
          <a:bodyPr numCol="1"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 module measures wastewater levels and detects blockages, ensuring efficient drainage system functionality.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 gas detection module identifies harmful gases like methane and hydrogen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sulfide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safety in drainage systems.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module collects and transmits real-time data to a central system for monitoring and analysis of drainage status.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display module provides visual updates on drainage conditions, waste levels, and toxic gas presence for easy access.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alert module notifies authorities and residents about critical issues, enabling immediate action to prevent damage.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module integrates all components, ensuring seamless operation and communication within the proposed system.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PLATFORM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4096"/>
            <a:ext cx="10515600" cy="6123904"/>
          </a:xfrm>
        </p:spPr>
        <p:txBody>
          <a:bodyPr numCol="1"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implemented using Arduino or Raspberry Pi as the microcontroller for seamless integration of components.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 and toxic gas detection modules are connected to the microcontroller for real-time data collection.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platforms like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Blynk are used for data transmission and real-time monitoring of drainage systems.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displays are integrated to provide visual updates on drainage status, waste levels, and toxic gas presence.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alerts are connected to the microcontroller to notify stakeholders about critical issues in the drainage system.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powered by a reliable power source, ensuring continuous operation and monitoring of drainage conditions.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PLAN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734096"/>
          <a:ext cx="11178541" cy="5772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5383"/>
                <a:gridCol w="3726579"/>
                <a:gridCol w="3726579"/>
              </a:tblGrid>
              <a:tr h="257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029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System Design &amp; Component Selection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 system architecture, select sensors, and create circuit diagrams.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075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Hardware Integration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Assemble and connect Arduino, Node MCU, ultrasonic sensors, toxic gas sensors, and LCD.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029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Sensor Calibration &amp; Testing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wastewater level detection and gas sensors, calibrate for accuracy.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029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IoT and Alert System Implementation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up real-time monitoring via IoT, LCD display, and buzzer alerts.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075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Testing and Debugging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Conduct system tests in controlled environments, troubleshoot hardware/software issues.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029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 Deployment &amp; Optimization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Install in real-world locations, optimize performance, and ensure reliability.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6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7425" y="-97155"/>
            <a:ext cx="10515600" cy="1325563"/>
          </a:xfrm>
        </p:spPr>
        <p:txBody>
          <a:bodyPr/>
          <a:p>
            <a:r>
              <a:rPr lang="en-I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I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3980"/>
            <a:ext cx="10515600" cy="4813300"/>
          </a:xfrm>
        </p:spPr>
        <p:txBody>
          <a:bodyPr>
            <a:normAutofit lnSpcReduction="10000"/>
          </a:bodyPr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robotized strong waste administration framework, integrating IoT sensors, simulated intelligence driven observing, and ongoing information investigation, offers a profoundly effective answer for overseeing metropolitan seepage frameworks. 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Looking forward, future improvements could incorporate the reconciliation of further developed sensors, AI advancements, prescient investigation, and more prominent cooperative energy with other brilliant city arrangements. 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These enhancements will prompt a stronger, wise, and associated metropolitan climate, making the administration of seepage frameworks and waste more compelling, cost-proficient, and supportable.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2508669"/>
            <a:ext cx="10515600" cy="1840662"/>
          </a:xfrm>
        </p:spPr>
        <p:txBody>
          <a:bodyPr numCol="1"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Gerlin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Y Gnana Priya; k R Swetha; 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Kaladevi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Hariharan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Shanmugasundaram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A Bhanuprasad, "Sewage Monitoring System Using IoT", 2023 International Conference on Computer Communication and Informatics (ICCCI ), Jan. 23 – 25, 2023, Coimbatore, INDIA .+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026535"/>
            <a:ext cx="12192000" cy="1139780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880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US" sz="8800" dirty="0">
                <a:ln w="0"/>
                <a:solidFill>
                  <a:schemeClr val="accent2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US" sz="8800" dirty="0">
              <a:ln w="0"/>
              <a:solidFill>
                <a:schemeClr val="accent2"/>
              </a:soli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10356</Words>
  <Application>WPS Slides</Application>
  <PresentationFormat>Widescreen</PresentationFormat>
  <Paragraphs>235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SimSun</vt:lpstr>
      <vt:lpstr>Wingdings</vt:lpstr>
      <vt:lpstr>Times New Roman</vt:lpstr>
      <vt:lpstr>Calibri</vt:lpstr>
      <vt:lpstr>Latha</vt:lpstr>
      <vt:lpstr>Segoe Print</vt:lpstr>
      <vt:lpstr>Microsoft YaHei</vt:lpstr>
      <vt:lpstr>Arial Unicode MS</vt:lpstr>
      <vt:lpstr>Calibri Light</vt:lpstr>
      <vt:lpstr>Office Theme</vt:lpstr>
      <vt:lpstr>PowerPoint 演示文稿</vt:lpstr>
      <vt:lpstr>Title :Automated IoT-Based Drainage Monitoring and Solid Waste Management System </vt:lpstr>
      <vt:lpstr>INTRODUCTION</vt:lpstr>
      <vt:lpstr>OBJECTIVE</vt:lpstr>
      <vt:lpstr>LITERATURE SURVEY</vt:lpstr>
      <vt:lpstr>PowerPoint 演示文稿</vt:lpstr>
      <vt:lpstr>EXISTING SYSTEM</vt:lpstr>
      <vt:lpstr>DRAWBACKS</vt:lpstr>
      <vt:lpstr>PROPOSED SYSTEM</vt:lpstr>
      <vt:lpstr>SYSTEM ARCHITECTURE</vt:lpstr>
      <vt:lpstr>MODULES</vt:lpstr>
      <vt:lpstr>IMPLEMENTATION PLATFORM</vt:lpstr>
      <vt:lpstr>WORK PLAN</vt:lpstr>
      <vt:lpstr>                                   CONCLUSION</vt:lpstr>
      <vt:lpstr>BASE PAPER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Harini N</cp:lastModifiedBy>
  <cp:revision>11</cp:revision>
  <dcterms:created xsi:type="dcterms:W3CDTF">2025-01-29T10:01:00Z</dcterms:created>
  <dcterms:modified xsi:type="dcterms:W3CDTF">2025-04-26T03:27:30Z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F41BB59D176F4348B6610088DEFE198B_13</vt:lpwstr>
  </property>
  <property fmtid="{D5CDD505-2E9C-101B-9397-08002B2CF9AE}" pid="3" name="KSOProductBuildVer">
    <vt:lpwstr>1033-12.2.0.20795</vt:lpwstr>
  </property>
</Properties>
</file>